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H">
    <p:bg>
      <p:bgPr>
        <a:solidFill>
          <a:srgbClr val="E7E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6446520"/>
            <a:ext cx="11018520" cy="0"/>
          </a:xfrm>
          <a:prstGeom prst="line">
            <a:avLst/>
          </a:prstGeom>
          <a:noFill/>
          <a:ln w="12700">
            <a:solidFill>
              <a:srgbClr val="C0CA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651052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 /  SOFTWARE  /  CYBERSECURITY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55548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STRANGER STRINGS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2026 / PROBLEM STATEMENT 26188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based Fake Identity and Document Screening System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10789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explainable, on-premise screening platform for faster and safer border verification.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1792" y="1627632"/>
            <a:ext cx="69951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A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996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150" kern="0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SENTINEL-ID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document is the evidence.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 is the annotator.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3749040"/>
            <a:ext cx="5394960" cy="0"/>
          </a:xfrm>
          <a:prstGeom prst="line">
            <a:avLst/>
          </a:prstGeom>
          <a:noFill/>
          <a:ln w="12700">
            <a:solidFill>
              <a:srgbClr val="C0CAD3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914400" y="3977640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MRZ-first validation  ·  forensic tamper signals  ·  face verification  ·  calibrated risk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754880"/>
            <a:ext cx="2331720" cy="256032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773168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&amp; CYBERSECURITY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29000" y="4754880"/>
            <a:ext cx="960120" cy="256032"/>
          </a:xfrm>
          <a:prstGeom prst="rect">
            <a:avLst/>
          </a:prstGeom>
          <a:solidFill>
            <a:srgbClr val="E4E8EC"/>
          </a:solidFill>
          <a:ln w="12700">
            <a:solidFill>
              <a:srgbClr val="E4E8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4773168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955280" y="1627632"/>
            <a:ext cx="3611880" cy="4160520"/>
          </a:xfrm>
          <a:prstGeom prst="rect">
            <a:avLst/>
          </a:prstGeom>
          <a:solidFill>
            <a:srgbClr val="DAE1E7"/>
          </a:solidFill>
          <a:ln w="12700">
            <a:solidFill>
              <a:srgbClr val="C0CA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9202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METADATA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47888" y="23957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70" kern="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710928" y="2395728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26188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47888" y="2779776"/>
            <a:ext cx="2907792" cy="0"/>
          </a:xfrm>
          <a:prstGeom prst="line">
            <a:avLst/>
          </a:prstGeom>
          <a:noFill/>
          <a:ln w="12700">
            <a:solidFill>
              <a:srgbClr val="C0CAD3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8247888" y="296265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70" kern="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710928" y="2962656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&amp; Cybersecurity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47888" y="3346704"/>
            <a:ext cx="2907792" cy="0"/>
          </a:xfrm>
          <a:prstGeom prst="line">
            <a:avLst/>
          </a:prstGeom>
          <a:noFill/>
          <a:ln w="12700">
            <a:solidFill>
              <a:srgbClr val="C0CAD3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8247888" y="352958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70" kern="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710928" y="3529584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47888" y="3913632"/>
            <a:ext cx="2907792" cy="0"/>
          </a:xfrm>
          <a:prstGeom prst="line">
            <a:avLst/>
          </a:prstGeom>
          <a:noFill/>
          <a:ln w="12700">
            <a:solidFill>
              <a:srgbClr val="C0CAD3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8247888" y="409651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70" kern="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710928" y="4069080"/>
            <a:ext cx="14173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A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47888" y="4480560"/>
            <a:ext cx="2907792" cy="0"/>
          </a:xfrm>
          <a:prstGeom prst="line">
            <a:avLst/>
          </a:prstGeom>
          <a:noFill/>
          <a:ln w="12700">
            <a:solidFill>
              <a:srgbClr val="C0CAD3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8247888" y="46634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70" kern="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710928" y="4663440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Stranger Strings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11312" y="54406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‹‹‹  OFFICER-LED DECISION SUPPORT  ‹‹‹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IDEA TITLE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document image to defensible decision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10789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focused pipeline that turns hidden fraud signals into evidence an officer can act on.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1792" y="1627632"/>
            <a:ext cx="3657600" cy="4434840"/>
          </a:xfrm>
          <a:prstGeom prst="rect">
            <a:avLst/>
          </a:prstGeom>
          <a:solidFill>
            <a:srgbClr val="DAE1E7"/>
          </a:solidFill>
          <a:ln w="12700">
            <a:solidFill>
              <a:srgbClr val="C0CA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019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8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2494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identities hide in plain sight.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thirty-second manual glance can miss: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32688" y="3401568"/>
            <a:ext cx="128016" cy="128016"/>
          </a:xfrm>
          <a:prstGeom prst="ellipse">
            <a:avLst/>
          </a:prstGeom>
          <a:solidFill>
            <a:srgbClr val="8E1414"/>
          </a:solidFill>
          <a:ln w="12700">
            <a:solidFill>
              <a:srgbClr val="8E14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3337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Replaced portraits and face morphs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32688" y="3840480"/>
            <a:ext cx="128016" cy="128016"/>
          </a:xfrm>
          <a:prstGeom prst="ellipse">
            <a:avLst/>
          </a:prstGeom>
          <a:solidFill>
            <a:srgbClr val="8E1414"/>
          </a:solidFill>
          <a:ln w="12700">
            <a:solidFill>
              <a:srgbClr val="8E14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3776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Retyped dates or document numbers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32688" y="4279392"/>
            <a:ext cx="128016" cy="128016"/>
          </a:xfrm>
          <a:prstGeom prst="ellipse">
            <a:avLst/>
          </a:prstGeom>
          <a:solidFill>
            <a:srgbClr val="8E1414"/>
          </a:solidFill>
          <a:ln w="12700">
            <a:solidFill>
              <a:srgbClr val="8E14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42153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Copy-moved stamps and recompressed regions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32688" y="4718304"/>
            <a:ext cx="128016" cy="128016"/>
          </a:xfrm>
          <a:prstGeom prst="ellipse">
            <a:avLst/>
          </a:prstGeom>
          <a:solidFill>
            <a:srgbClr val="8E1414"/>
          </a:solidFill>
          <a:ln w="12700">
            <a:solidFill>
              <a:srgbClr val="8E14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46542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traveller under multiple names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5257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is not only delay — it is inconsistent decisions and weak evidence trails.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53712" y="1920240"/>
            <a:ext cx="0" cy="3886200"/>
          </a:xfrm>
          <a:prstGeom prst="line">
            <a:avLst/>
          </a:prstGeom>
          <a:noFill/>
          <a:ln w="25400">
            <a:solidFill>
              <a:srgbClr val="C0CAD3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4956048" y="19019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66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56048" y="224942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SENTINEL-ID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956048" y="27432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calibrated, offline-first screening console that keeps the officer in control.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56048" y="3401568"/>
            <a:ext cx="2788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A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56048" y="3401568"/>
            <a:ext cx="54864" cy="86868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8928" y="35661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MRZ-FIRST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38928" y="3904488"/>
            <a:ext cx="2441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check digits before model inference.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23760" y="355701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019288" y="3401568"/>
            <a:ext cx="2788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A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19288" y="3401568"/>
            <a:ext cx="54864" cy="86868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02168" y="35661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02168" y="3904488"/>
            <a:ext cx="2441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interpretable signals with visual evidence.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287000" y="355701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56048" y="4526280"/>
            <a:ext cx="2788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AD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56048" y="4526280"/>
            <a:ext cx="54864" cy="868680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38928" y="46908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+ GALLERY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38928" y="5029200"/>
            <a:ext cx="2441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Match, morph, liveness, and alias detection.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23760" y="468172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19288" y="4526280"/>
            <a:ext cx="2788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AD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19288" y="4526280"/>
            <a:ext cx="54864" cy="868680"/>
          </a:xfrm>
          <a:prstGeom prst="rect">
            <a:avLst/>
          </a:prstGeom>
          <a:solidFill>
            <a:srgbClr val="06603F"/>
          </a:solidFill>
          <a:ln w="12700">
            <a:solidFill>
              <a:srgbClr val="06603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02168" y="46908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RISK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202168" y="5029200"/>
            <a:ext cx="2441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 or hold only with a human-readable reason.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287000" y="468172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TECHNICAL APPROACH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staged architecture built for explainability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10789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quality gates expensive inference; every downstream signal contributes evidence, not an opaque verdict.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133502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A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214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3957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 / camera / NFC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29968" y="2377440"/>
            <a:ext cx="283464" cy="0"/>
          </a:xfrm>
          <a:prstGeom prst="line">
            <a:avLst/>
          </a:prstGeom>
          <a:noFill/>
          <a:ln w="19050">
            <a:solidFill>
              <a:srgbClr val="46586A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212848" y="2304288"/>
            <a:ext cx="109728" cy="146304"/>
          </a:xfrm>
          <a:prstGeom prst="chevron">
            <a:avLst/>
          </a:prstGeom>
          <a:solidFill>
            <a:srgbClr val="46586A"/>
          </a:solidFill>
          <a:ln w="12700">
            <a:solidFill>
              <a:srgbClr val="4658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13432" y="1965960"/>
            <a:ext cx="133502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A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04872" y="21214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04872" y="23957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Glare · blur · DPI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657600" y="2377440"/>
            <a:ext cx="283464" cy="0"/>
          </a:xfrm>
          <a:prstGeom prst="line">
            <a:avLst/>
          </a:prstGeom>
          <a:noFill/>
          <a:ln w="19050">
            <a:solidFill>
              <a:srgbClr val="46586A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3840480" y="2304288"/>
            <a:ext cx="109728" cy="146304"/>
          </a:xfrm>
          <a:prstGeom prst="chevron">
            <a:avLst/>
          </a:prstGeom>
          <a:solidFill>
            <a:srgbClr val="46586A"/>
          </a:solidFill>
          <a:ln w="12700">
            <a:solidFill>
              <a:srgbClr val="4658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41064" y="1965960"/>
            <a:ext cx="133502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A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32504" y="21214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+ MRZ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32504" y="23957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· 7-3-1 checks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285232" y="2377440"/>
            <a:ext cx="283464" cy="0"/>
          </a:xfrm>
          <a:prstGeom prst="line">
            <a:avLst/>
          </a:prstGeom>
          <a:noFill/>
          <a:ln w="19050">
            <a:solidFill>
              <a:srgbClr val="46586A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5468112" y="2304288"/>
            <a:ext cx="109728" cy="146304"/>
          </a:xfrm>
          <a:prstGeom prst="chevron">
            <a:avLst/>
          </a:prstGeom>
          <a:solidFill>
            <a:srgbClr val="46586A"/>
          </a:solidFill>
          <a:ln w="12700">
            <a:solidFill>
              <a:srgbClr val="4658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68696" y="1965960"/>
            <a:ext cx="133502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A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0136" y="21214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0136" y="23957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· watchlist · reuse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912864" y="2377440"/>
            <a:ext cx="283464" cy="0"/>
          </a:xfrm>
          <a:prstGeom prst="line">
            <a:avLst/>
          </a:prstGeom>
          <a:noFill/>
          <a:ln w="19050">
            <a:solidFill>
              <a:srgbClr val="46586A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7095744" y="2304288"/>
            <a:ext cx="109728" cy="146304"/>
          </a:xfrm>
          <a:prstGeom prst="chevron">
            <a:avLst/>
          </a:prstGeom>
          <a:solidFill>
            <a:srgbClr val="46586A"/>
          </a:solidFill>
          <a:ln w="12700">
            <a:solidFill>
              <a:srgbClr val="4658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96328" y="1965960"/>
            <a:ext cx="133502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A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87768" y="21214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287768" y="23957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JPEG · PRNU · font · stamp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8540496" y="2377440"/>
            <a:ext cx="283464" cy="0"/>
          </a:xfrm>
          <a:prstGeom prst="line">
            <a:avLst/>
          </a:prstGeom>
          <a:noFill/>
          <a:ln w="19050">
            <a:solidFill>
              <a:srgbClr val="46586A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8723376" y="2304288"/>
            <a:ext cx="109728" cy="146304"/>
          </a:xfrm>
          <a:prstGeom prst="chevron">
            <a:avLst/>
          </a:prstGeom>
          <a:solidFill>
            <a:srgbClr val="46586A"/>
          </a:solidFill>
          <a:ln w="12700">
            <a:solidFill>
              <a:srgbClr val="4658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23960" y="1965960"/>
            <a:ext cx="133502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A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15400" y="21214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915400" y="23957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· PAD · morph · gallery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0168128" y="2377440"/>
            <a:ext cx="283464" cy="0"/>
          </a:xfrm>
          <a:prstGeom prst="line">
            <a:avLst/>
          </a:prstGeom>
          <a:noFill/>
          <a:ln w="19050">
            <a:solidFill>
              <a:srgbClr val="46586A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10351008" y="2304288"/>
            <a:ext cx="109728" cy="146304"/>
          </a:xfrm>
          <a:prstGeom prst="chevron">
            <a:avLst/>
          </a:prstGeom>
          <a:solidFill>
            <a:srgbClr val="46586A"/>
          </a:solidFill>
          <a:ln w="12700">
            <a:solidFill>
              <a:srgbClr val="46586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51592" y="1965960"/>
            <a:ext cx="1335024" cy="822960"/>
          </a:xfrm>
          <a:prstGeom prst="rect">
            <a:avLst/>
          </a:prstGeom>
          <a:solidFill>
            <a:srgbClr val="E6F0EB"/>
          </a:solidFill>
          <a:ln w="12700">
            <a:solidFill>
              <a:srgbClr val="06603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43032" y="21214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FUSION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543032" y="23957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 · explain · audit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048256" y="2907792"/>
            <a:ext cx="7607808" cy="0"/>
          </a:xfrm>
          <a:prstGeom prst="line">
            <a:avLst/>
          </a:prstGeom>
          <a:noFill/>
          <a:ln w="12700">
            <a:solidFill>
              <a:srgbClr val="C0CAD3"/>
            </a:solidFill>
            <a:prstDash val="solid"/>
            <a:headEnd type="none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694944" y="30632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LOOP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331720" y="2971800"/>
            <a:ext cx="2377440" cy="457200"/>
          </a:xfrm>
          <a:prstGeom prst="rect">
            <a:avLst/>
          </a:prstGeom>
          <a:solidFill>
            <a:srgbClr val="DAE1E7"/>
          </a:solidFill>
          <a:ln w="12700">
            <a:solidFill>
              <a:srgbClr val="DAE1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41448" y="3063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CROPS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441448" y="3246120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confidence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074920" y="2971800"/>
            <a:ext cx="2377440" cy="457200"/>
          </a:xfrm>
          <a:prstGeom prst="rect">
            <a:avLst/>
          </a:prstGeom>
          <a:solidFill>
            <a:srgbClr val="DAE1E7"/>
          </a:solidFill>
          <a:ln w="12700">
            <a:solidFill>
              <a:srgbClr val="DAE1E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84648" y="3063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184648" y="3246120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human-readable reasons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818120" y="2971800"/>
            <a:ext cx="2377440" cy="457200"/>
          </a:xfrm>
          <a:prstGeom prst="rect">
            <a:avLst/>
          </a:prstGeom>
          <a:solidFill>
            <a:srgbClr val="DAE1E7"/>
          </a:solidFill>
          <a:ln w="12700">
            <a:solidFill>
              <a:srgbClr val="DAE1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27848" y="3063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CHAIN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927848" y="3246120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override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8580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85800" y="4279392"/>
            <a:ext cx="3337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AD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3816" y="437997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545336" y="43616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React · TypeScript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389120" y="4279392"/>
            <a:ext cx="3337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AD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17136" y="437997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248656" y="43616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Pydantic · REST / SSE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092440" y="4279392"/>
            <a:ext cx="3337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AD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0456" y="437997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951976" y="43616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· Tesseract · ONNX Runtime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85800" y="4937760"/>
            <a:ext cx="3337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AD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13816" y="503834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545336" y="50200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· pgvector · MinIO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389120" y="4937760"/>
            <a:ext cx="3337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AD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17136" y="503834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248656" y="50200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· offline bundles · hash-chained audit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FEASIBILITY &amp; VIABILITY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at the checkpoint. Scalable across the network.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10789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MVP is deliberately bounded: offline-ready, modular, and measurable against a real latency and accuracy budget.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525780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A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37360"/>
            <a:ext cx="54864" cy="4133088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0195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4910328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On-premise pipeline keeps sensitive images inside the checkpoint.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p95 screening target ≤ 4 seconds on reference hardware.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CPU fallback and declared capture profiles keep the system usable when GPU or NFC is unavailable.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Modular signals can be shipped, tested, and calibrated independently.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Deterministic MRZ rules create an explainable baseline before AI inference.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45352" y="1737360"/>
            <a:ext cx="525780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A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5352" y="1737360"/>
            <a:ext cx="54864" cy="4133088"/>
          </a:xfrm>
          <a:prstGeom prst="rect">
            <a:avLst/>
          </a:prstGeom>
          <a:solidFill>
            <a:srgbClr val="06603F"/>
          </a:solidFill>
          <a:ln w="12700">
            <a:solidFill>
              <a:srgbClr val="0660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190195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VIABILITY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28232" y="2240280"/>
            <a:ext cx="4910328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Reduces manual review time and standardises screening quality.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Reuses existing scanners and officer workflow; no traveller-facing app required.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Expandable from passports to visas, IDs, permits, and eKYC evidence.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 trail supports investigations, supervisor overrides, and compliance.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Deployment model fits border checkpoints, airports, and high-assurance facilities.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13632" y="6144768"/>
            <a:ext cx="4297680" cy="256032"/>
          </a:xfrm>
          <a:prstGeom prst="rect">
            <a:avLst/>
          </a:prstGeom>
          <a:solidFill>
            <a:srgbClr val="131C24"/>
          </a:solidFill>
          <a:ln w="12700">
            <a:solidFill>
              <a:srgbClr val="131C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86784" y="6163056"/>
            <a:ext cx="4151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→ PILOT → NETWORK SCALE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IMPACT &amp; BENEFITS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screening without lowering the bar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10789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are measured where trust matters: time, consistency, evidence, and safer decisions.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1828800"/>
            <a:ext cx="20299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A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057400"/>
            <a:ext cx="530352" cy="530352"/>
          </a:xfrm>
          <a:prstGeom prst="ellipse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1854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9536" y="27889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" y="3218688"/>
            <a:ext cx="1664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glanceable verdict with a specific reason — less cognitive load under queue pressure.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59536" y="4846320"/>
            <a:ext cx="1664208" cy="0"/>
          </a:xfrm>
          <a:prstGeom prst="line">
            <a:avLst/>
          </a:prstGeom>
          <a:noFill/>
          <a:ln w="25400">
            <a:solidFill>
              <a:srgbClr val="00A3C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962656" y="1828800"/>
            <a:ext cx="20299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A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27248" y="2057400"/>
            <a:ext cx="530352" cy="530352"/>
          </a:xfrm>
          <a:prstGeom prst="ellipse">
            <a:avLst/>
          </a:prstGeom>
          <a:solidFill>
            <a:srgbClr val="06603F"/>
          </a:solidFill>
          <a:ln w="12700">
            <a:solidFill>
              <a:srgbClr val="0660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27248" y="21854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27248" y="27889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TRAVELLERS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27248" y="3218688"/>
            <a:ext cx="1664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unnecessary referrals because uncertainty is separated from suspicion.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27248" y="4846320"/>
            <a:ext cx="1664208" cy="0"/>
          </a:xfrm>
          <a:prstGeom prst="line">
            <a:avLst/>
          </a:prstGeom>
          <a:noFill/>
          <a:ln w="25400">
            <a:solidFill>
              <a:srgbClr val="06603F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230368" y="1828800"/>
            <a:ext cx="20299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A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4960" y="2057400"/>
            <a:ext cx="530352" cy="530352"/>
          </a:xfrm>
          <a:prstGeom prst="ellipse">
            <a:avLst/>
          </a:prstGeom>
          <a:solidFill>
            <a:srgbClr val="9A5300"/>
          </a:solidFill>
          <a:ln w="12700">
            <a:solidFill>
              <a:srgbClr val="9A5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21854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94960" y="27889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0" y="3218688"/>
            <a:ext cx="1664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overlays, field crops, and override reasons make escalations reviewable.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94960" y="4846320"/>
            <a:ext cx="1664208" cy="0"/>
          </a:xfrm>
          <a:prstGeom prst="line">
            <a:avLst/>
          </a:prstGeom>
          <a:noFill/>
          <a:ln w="25400">
            <a:solidFill>
              <a:srgbClr val="9A5300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7498080" y="1828800"/>
            <a:ext cx="20299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A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62672" y="2057400"/>
            <a:ext cx="530352" cy="530352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62672" y="21854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62672" y="27889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INVESTIGATORS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62672" y="3218688"/>
            <a:ext cx="1664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Searchable, tamper-evident records expose repeat identities and shared forgery patterns.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62672" y="4846320"/>
            <a:ext cx="1664208" cy="0"/>
          </a:xfrm>
          <a:prstGeom prst="line">
            <a:avLst/>
          </a:prstGeom>
          <a:noFill/>
          <a:ln w="25400">
            <a:solidFill>
              <a:srgbClr val="C026D3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765792" y="1828800"/>
            <a:ext cx="20299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AD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30384" y="2057400"/>
            <a:ext cx="530352" cy="530352"/>
          </a:xfrm>
          <a:prstGeom prst="ellipse">
            <a:avLst/>
          </a:prstGeom>
          <a:solidFill>
            <a:srgbClr val="131C24"/>
          </a:solidFill>
          <a:ln w="12700">
            <a:solidFill>
              <a:srgbClr val="131C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30384" y="21854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930384" y="27889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OWNERS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930384" y="3218688"/>
            <a:ext cx="1664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operation, signed watchlist bundles, and versioned rules protect sovereignty.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930384" y="4846320"/>
            <a:ext cx="1664208" cy="0"/>
          </a:xfrm>
          <a:prstGeom prst="line">
            <a:avLst/>
          </a:prstGeom>
          <a:noFill/>
          <a:ln w="25400">
            <a:solidFill>
              <a:srgbClr val="131C24"/>
            </a:solidFill>
            <a:prstDash val="solid"/>
            <a:headEnd type="none"/>
            <a:tailEnd type="none"/>
          </a:ln>
        </p:spPr>
      </p:sp>
      <p:sp>
        <p:nvSpPr>
          <p:cNvPr id="35" name="Text 33"/>
          <p:cNvSpPr/>
          <p:nvPr/>
        </p:nvSpPr>
        <p:spPr>
          <a:xfrm>
            <a:off x="713232" y="57972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OUTCOMES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286000" y="576986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4s p95 screening  ·  ≥ 0.92 AUC  ·  100% explained non-CLEAR verdicts  ·  100% hash-chained audit records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918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RESEARCH &amp; REFERENCES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03504" y="60350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Evidence-led by design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10789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proposal is grounded in public standards, established computer-vision tooling, and current forgery-detection research.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5074920" cy="4462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CA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89320" y="1664208"/>
            <a:ext cx="5513832" cy="4462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CA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385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066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60120" y="2487168"/>
            <a:ext cx="128016" cy="128016"/>
          </a:xfrm>
          <a:prstGeom prst="ellipse">
            <a:avLst/>
          </a:prstGeom>
          <a:solidFill>
            <a:srgbClr val="06603F"/>
          </a:solidFill>
          <a:ln w="12700">
            <a:solidFill>
              <a:srgbClr val="0660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39572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Studied existing OCR &amp; document verification methods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32688" y="2953512"/>
            <a:ext cx="4389120" cy="0"/>
          </a:xfrm>
          <a:prstGeom prst="line">
            <a:avLst/>
          </a:prstGeom>
          <a:noFill/>
          <a:ln w="12700">
            <a:solidFill>
              <a:srgbClr val="C0CAD3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60120" y="3099816"/>
            <a:ext cx="128016" cy="128016"/>
          </a:xfrm>
          <a:prstGeom prst="ellipse">
            <a:avLst/>
          </a:prstGeom>
          <a:solidFill>
            <a:srgbClr val="06603F"/>
          </a:solidFill>
          <a:ln w="12700">
            <a:solidFill>
              <a:srgbClr val="0660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00837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passport/ID security &amp; common document tampering techniques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32688" y="3566160"/>
            <a:ext cx="4389120" cy="0"/>
          </a:xfrm>
          <a:prstGeom prst="line">
            <a:avLst/>
          </a:prstGeom>
          <a:noFill/>
          <a:ln w="12700">
            <a:solidFill>
              <a:srgbClr val="C0CAD3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60120" y="3712464"/>
            <a:ext cx="128016" cy="128016"/>
          </a:xfrm>
          <a:prstGeom prst="ellipse">
            <a:avLst/>
          </a:prstGeom>
          <a:solidFill>
            <a:srgbClr val="06603F"/>
          </a:solidFill>
          <a:ln w="12700">
            <a:solidFill>
              <a:srgbClr val="0660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3621024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Explored face matching for identity verification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32688" y="4178808"/>
            <a:ext cx="4389120" cy="0"/>
          </a:xfrm>
          <a:prstGeom prst="line">
            <a:avLst/>
          </a:prstGeom>
          <a:noFill/>
          <a:ln w="12700">
            <a:solidFill>
              <a:srgbClr val="C0CAD3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60120" y="4325112"/>
            <a:ext cx="128016" cy="128016"/>
          </a:xfrm>
          <a:prstGeom prst="ellipse">
            <a:avLst/>
          </a:prstGeom>
          <a:solidFill>
            <a:srgbClr val="06603F"/>
          </a:solidFill>
          <a:ln w="12700">
            <a:solidFill>
              <a:srgbClr val="0660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423367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/ AI-assisted study: ChatGPT, OpenCV, Tesseract OCR, Claude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19385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00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72784" y="2340864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537960" y="2340864"/>
            <a:ext cx="4572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– Digital Identity Guidelines (SP 800-63A)</a:t>
            </a:r>
            <a:endParaRPr lang="en-US" sz="710" dirty="0"/>
          </a:p>
        </p:txBody>
      </p:sp>
      <p:sp>
        <p:nvSpPr>
          <p:cNvPr id="22" name="Text 20"/>
          <p:cNvSpPr/>
          <p:nvPr/>
        </p:nvSpPr>
        <p:spPr>
          <a:xfrm>
            <a:off x="6272784" y="268833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537960" y="2688336"/>
            <a:ext cx="4572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ICAO – Machine Readable Travel Documents (MRTD)</a:t>
            </a:r>
            <a:endParaRPr lang="en-US" sz="710" dirty="0"/>
          </a:p>
        </p:txBody>
      </p:sp>
      <p:sp>
        <p:nvSpPr>
          <p:cNvPr id="24" name="Text 22"/>
          <p:cNvSpPr/>
          <p:nvPr/>
        </p:nvSpPr>
        <p:spPr>
          <a:xfrm>
            <a:off x="6272784" y="303580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537960" y="3035808"/>
            <a:ext cx="4572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Tesseract OCR – Official Documentation</a:t>
            </a:r>
            <a:endParaRPr lang="en-US" sz="710" dirty="0"/>
          </a:p>
        </p:txBody>
      </p:sp>
      <p:sp>
        <p:nvSpPr>
          <p:cNvPr id="26" name="Text 24"/>
          <p:cNvSpPr/>
          <p:nvPr/>
        </p:nvSpPr>
        <p:spPr>
          <a:xfrm>
            <a:off x="6272784" y="338328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537960" y="3383280"/>
            <a:ext cx="4572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– Official Documentation</a:t>
            </a:r>
            <a:endParaRPr lang="en-US" sz="710" dirty="0"/>
          </a:p>
        </p:txBody>
      </p:sp>
      <p:sp>
        <p:nvSpPr>
          <p:cNvPr id="28" name="Text 26"/>
          <p:cNvSpPr/>
          <p:nvPr/>
        </p:nvSpPr>
        <p:spPr>
          <a:xfrm>
            <a:off x="6272784" y="3730752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537960" y="3730752"/>
            <a:ext cx="4572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– Considerations for Implementing Morph Detection in Operations</a:t>
            </a:r>
            <a:endParaRPr lang="en-US" sz="710" dirty="0"/>
          </a:p>
        </p:txBody>
      </p:sp>
      <p:sp>
        <p:nvSpPr>
          <p:cNvPr id="30" name="Text 28"/>
          <p:cNvSpPr/>
          <p:nvPr/>
        </p:nvSpPr>
        <p:spPr>
          <a:xfrm>
            <a:off x="6272784" y="4078224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537960" y="4078224"/>
            <a:ext cx="4572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Face Recognition Vendor Test (FRVT)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6272784" y="442569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537960" y="4425696"/>
            <a:ext cx="4572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ICAO Doc 9303 – Machine Readable Travel Documents</a:t>
            </a:r>
            <a:endParaRPr lang="en-US" sz="710" dirty="0"/>
          </a:p>
        </p:txBody>
      </p:sp>
      <p:sp>
        <p:nvSpPr>
          <p:cNvPr id="34" name="Text 32"/>
          <p:cNvSpPr/>
          <p:nvPr/>
        </p:nvSpPr>
        <p:spPr>
          <a:xfrm>
            <a:off x="6272784" y="477316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537960" y="4773168"/>
            <a:ext cx="4572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“Towards Robust Tampered Text Detection in Document Image: New Dataset and New Solution” – Chenfan Qu et al., IEEE/CVF Conference on Computer Vision and Pattern Recognition (CVPR), 2023</a:t>
            </a:r>
            <a:endParaRPr lang="en-US" sz="710" dirty="0"/>
          </a:p>
        </p:txBody>
      </p:sp>
      <p:sp>
        <p:nvSpPr>
          <p:cNvPr id="36" name="Text 34"/>
          <p:cNvSpPr/>
          <p:nvPr/>
        </p:nvSpPr>
        <p:spPr>
          <a:xfrm>
            <a:off x="6272784" y="512064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537960" y="5120640"/>
            <a:ext cx="4572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“Document forgery detection: a comprehensive review” – Sukhija, Kumar &amp; Jindal, International Journal of Data Science and Analytics, 2025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6272784" y="5468112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537960" y="5468112"/>
            <a:ext cx="4572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3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“Document Images Forgery Localization Using a Two-Stream Network” – Xu et al., 2022</a:t>
            </a:r>
            <a:endParaRPr lang="en-US" sz="710" dirty="0"/>
          </a:p>
        </p:txBody>
      </p:sp>
      <p:sp>
        <p:nvSpPr>
          <p:cNvPr id="40" name="Text 38"/>
          <p:cNvSpPr/>
          <p:nvPr/>
        </p:nvSpPr>
        <p:spPr>
          <a:xfrm>
            <a:off x="713232" y="627278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465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‹‹‹  STANDARDS → SIGNALS → SCREENING  ‹‹‹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Stranger Strings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SENTINEL-ID — AI based Fake Identity and Document Screening System</dc:title>
  <dc:subject>SIH 2026 Problem Statement 26188</dc:subject>
  <dc:creator>Stranger Strings</dc:creator>
  <cp:lastModifiedBy>Stranger Strings</cp:lastModifiedBy>
  <cp:revision>1</cp:revision>
  <dcterms:created xsi:type="dcterms:W3CDTF">2026-09-06T12:08:43Z</dcterms:created>
  <dcterms:modified xsi:type="dcterms:W3CDTF">2026-09-06T12:08:43Z</dcterms:modified>
</cp:coreProperties>
</file>